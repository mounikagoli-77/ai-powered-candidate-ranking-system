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56" r:id="rId3"/>
    <p:sldId id="257" r:id="rId4"/>
    <p:sldId id="258" r:id="rId5"/>
    <p:sldId id="259" r:id="rId6"/>
    <p:sldId id="260" r:id="rId7"/>
    <p:sldId id="261" r:id="rId8"/>
    <p:sldId id="262" r:id="rId9"/>
    <p:sldId id="266" r:id="rId10"/>
    <p:sldId id="263" r:id="rId11"/>
    <p:sldId id="264" r:id="rId12"/>
    <p:sldId id="26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120" y="-41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843681"/>
            <a:ext cx="8229600" cy="2308324"/>
          </a:xfrm>
          <a:prstGeom prst="rect">
            <a:avLst/>
          </a:prstGeom>
        </p:spPr>
        <p:txBody>
          <a:bodyPr wrap="square">
            <a:spAutoFit/>
          </a:bodyPr>
          <a:lstStyle/>
          <a:p>
            <a:r>
              <a:rPr lang="en-US" sz="4400" b="1" dirty="0"/>
              <a:t>AI-Powered Candidate Ranking System</a:t>
            </a:r>
          </a:p>
          <a:p>
            <a:r>
              <a:rPr lang="en-US" sz="2800" i="1" dirty="0"/>
              <a:t>Intelligent Resume Screening and Candidate Recommendation using Artificial Intelligence</a:t>
            </a:r>
            <a:endParaRPr lang="en-US" sz="2800" dirty="0"/>
          </a:p>
        </p:txBody>
      </p:sp>
      <p:sp>
        <p:nvSpPr>
          <p:cNvPr id="5" name="Rectangle 4"/>
          <p:cNvSpPr/>
          <p:nvPr/>
        </p:nvSpPr>
        <p:spPr>
          <a:xfrm>
            <a:off x="3894881" y="3918442"/>
            <a:ext cx="4572000" cy="2308324"/>
          </a:xfrm>
          <a:prstGeom prst="rect">
            <a:avLst/>
          </a:prstGeom>
        </p:spPr>
        <p:txBody>
          <a:bodyPr>
            <a:spAutoFit/>
          </a:bodyPr>
          <a:lstStyle/>
          <a:p>
            <a:r>
              <a:rPr lang="en-IN" b="1" dirty="0"/>
              <a:t>Submitted By:</a:t>
            </a:r>
            <a:r>
              <a:rPr lang="en-IN" dirty="0"/>
              <a:t/>
            </a:r>
            <a:br>
              <a:rPr lang="en-IN" dirty="0"/>
            </a:br>
            <a:r>
              <a:rPr lang="en-IN" dirty="0" err="1" smtClean="0"/>
              <a:t>Goli</a:t>
            </a:r>
            <a:r>
              <a:rPr lang="en-IN" dirty="0" smtClean="0"/>
              <a:t> </a:t>
            </a:r>
            <a:r>
              <a:rPr lang="en-IN" dirty="0" err="1" smtClean="0"/>
              <a:t>Mounika</a:t>
            </a:r>
            <a:r>
              <a:rPr lang="en-IN" dirty="0"/>
              <a:t/>
            </a:r>
            <a:br>
              <a:rPr lang="en-IN" dirty="0"/>
            </a:br>
            <a:r>
              <a:rPr lang="en-IN" dirty="0" err="1" smtClean="0"/>
              <a:t>B.Tech</a:t>
            </a:r>
            <a:r>
              <a:rPr lang="en-IN" dirty="0" smtClean="0"/>
              <a:t> 4yr </a:t>
            </a:r>
            <a:r>
              <a:rPr lang="en-IN" dirty="0"/>
              <a:t>– CSE (AI &amp; ML)</a:t>
            </a:r>
            <a:br>
              <a:rPr lang="en-IN" dirty="0"/>
            </a:br>
            <a:r>
              <a:rPr lang="en-IN" dirty="0" err="1"/>
              <a:t>Malla</a:t>
            </a:r>
            <a:r>
              <a:rPr lang="en-IN" dirty="0"/>
              <a:t> Reddy Engineering College for Women (MRECW)</a:t>
            </a:r>
            <a:br>
              <a:rPr lang="en-IN" dirty="0"/>
            </a:br>
            <a:r>
              <a:rPr lang="en-IN" dirty="0"/>
              <a:t/>
            </a:r>
            <a:br>
              <a:rPr lang="en-IN" dirty="0"/>
            </a:br>
            <a:r>
              <a:rPr lang="en-IN" dirty="0"/>
              <a:t>Data &amp; AI Challenge 2026</a:t>
            </a:r>
            <a:br>
              <a:rPr lang="en-IN" dirty="0"/>
            </a:br>
            <a:r>
              <a:rPr lang="en-IN" dirty="0"/>
              <a:t>India Runs x </a:t>
            </a:r>
            <a:r>
              <a:rPr lang="en-IN" dirty="0" err="1"/>
              <a:t>Redrob</a:t>
            </a:r>
            <a:r>
              <a:rPr lang="en-IN" dirty="0"/>
              <a:t> AI</a:t>
            </a:r>
          </a:p>
        </p:txBody>
      </p:sp>
    </p:spTree>
    <p:extLst>
      <p:ext uri="{BB962C8B-B14F-4D97-AF65-F5344CB8AC3E}">
        <p14:creationId xmlns:p14="http://schemas.microsoft.com/office/powerpoint/2010/main" val="966561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AI-Powered Candidate Ranking System</a:t>
            </a:r>
          </a:p>
        </p:txBody>
      </p:sp>
      <p:sp>
        <p:nvSpPr>
          <p:cNvPr id="3" name="Content Placeholder 2"/>
          <p:cNvSpPr>
            <a:spLocks noGrp="1"/>
          </p:cNvSpPr>
          <p:nvPr>
            <p:ph idx="1"/>
          </p:nvPr>
        </p:nvSpPr>
        <p:spPr>
          <a:xfrm>
            <a:off x="457200" y="1448389"/>
            <a:ext cx="8229600" cy="5281683"/>
          </a:xfrm>
        </p:spPr>
        <p:txBody>
          <a:bodyPr>
            <a:noAutofit/>
          </a:bodyPr>
          <a:lstStyle/>
          <a:p>
            <a:pPr marL="0" indent="0" algn="just">
              <a:lnSpc>
                <a:spcPct val="150000"/>
              </a:lnSpc>
              <a:buNone/>
            </a:pPr>
            <a:r>
              <a:rPr lang="en-US" sz="1600" dirty="0" smtClean="0"/>
              <a:t>Recruitment </a:t>
            </a:r>
            <a:r>
              <a:rPr lang="en-US" sz="1600" dirty="0"/>
              <a:t>is a critical process for organizations, but traditional hiring methods often rely on manual resume screening and keyword-based filtering. These approaches can be time-consuming, inefficient, and may overlook qualified candidates whose skills and experience do not exactly match predefined keywords</a:t>
            </a:r>
            <a:r>
              <a:rPr lang="en-US" sz="1600" dirty="0" smtClean="0"/>
              <a:t>.</a:t>
            </a:r>
          </a:p>
          <a:p>
            <a:pPr marL="0" indent="0" algn="just">
              <a:lnSpc>
                <a:spcPct val="150000"/>
              </a:lnSpc>
              <a:buNone/>
            </a:pPr>
            <a:r>
              <a:rPr lang="en-US" sz="1600" dirty="0" smtClean="0"/>
              <a:t>The </a:t>
            </a:r>
            <a:r>
              <a:rPr lang="en-US" sz="1600" dirty="0"/>
              <a:t>AI-Powered Candidate Ranking System is designed to make recruitment smarter and more efficient by leveraging Artificial Intelligence and Natural Language Processing techniques. The system analyzes job descriptions and candidate resumes, extracts relevant skills and experience, evaluates semantic similarity between job requirements and candidate profiles, and generates a ranked list of applicants based on their suitability for the role</a:t>
            </a:r>
            <a:r>
              <a:rPr lang="en-US" sz="1600" dirty="0" smtClean="0"/>
              <a:t>.</a:t>
            </a:r>
          </a:p>
          <a:p>
            <a:pPr marL="0" indent="0" algn="just">
              <a:lnSpc>
                <a:spcPct val="150000"/>
              </a:lnSpc>
              <a:buNone/>
            </a:pPr>
            <a:r>
              <a:rPr lang="en-US" sz="1600" dirty="0" smtClean="0"/>
              <a:t>By </a:t>
            </a:r>
            <a:r>
              <a:rPr lang="en-US" sz="1600" dirty="0"/>
              <a:t>combining resume parsing, skill matching, experience analysis, and AI-based ranking, the proposed solution helps recruiters quickly identify the most suitable candidates while reducing screening time and improving hiring accuracy.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Problem Statement</a:t>
            </a:r>
          </a:p>
        </p:txBody>
      </p:sp>
      <p:sp>
        <p:nvSpPr>
          <p:cNvPr id="3" name="Content Placeholder 2"/>
          <p:cNvSpPr>
            <a:spLocks noGrp="1"/>
          </p:cNvSpPr>
          <p:nvPr>
            <p:ph idx="1"/>
          </p:nvPr>
        </p:nvSpPr>
        <p:spPr/>
        <p:txBody>
          <a:bodyPr>
            <a:normAutofit fontScale="70000" lnSpcReduction="20000"/>
          </a:bodyPr>
          <a:lstStyle/>
          <a:p>
            <a:pPr marL="0" indent="0" algn="just">
              <a:lnSpc>
                <a:spcPct val="170000"/>
              </a:lnSpc>
              <a:buNone/>
            </a:pPr>
            <a:r>
              <a:rPr lang="en-US" dirty="0" smtClean="0"/>
              <a:t>Traditional </a:t>
            </a:r>
            <a:r>
              <a:rPr lang="en-US" dirty="0"/>
              <a:t>recruitment processes often rely on manual resume screening and keyword-based filtering systems. These methods are time-consuming, prone to human bias, and may fail to identify qualified candidates whose skills and experience are relevant but not explicitly mentioned in the job description. Organizations need an intelligent solution that can understand candidate profiles, evaluate their suitability for a role, and provide accurate rankings to support faster and smarter hiring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Challenges in Traditional Hiring</a:t>
            </a:r>
          </a:p>
        </p:txBody>
      </p:sp>
      <p:sp>
        <p:nvSpPr>
          <p:cNvPr id="3" name="Content Placeholder 2"/>
          <p:cNvSpPr>
            <a:spLocks noGrp="1"/>
          </p:cNvSpPr>
          <p:nvPr>
            <p:ph idx="1"/>
          </p:nvPr>
        </p:nvSpPr>
        <p:spPr/>
        <p:txBody>
          <a:bodyPr>
            <a:normAutofit/>
          </a:bodyPr>
          <a:lstStyle/>
          <a:p>
            <a:pPr algn="just">
              <a:lnSpc>
                <a:spcPct val="150000"/>
              </a:lnSpc>
            </a:pPr>
            <a:r>
              <a:rPr lang="en-US" sz="2200" dirty="0" smtClean="0"/>
              <a:t>Manual </a:t>
            </a:r>
            <a:r>
              <a:rPr lang="en-US" sz="2200" dirty="0"/>
              <a:t>screening of resumes is time-consuming.</a:t>
            </a:r>
          </a:p>
          <a:p>
            <a:pPr algn="just">
              <a:lnSpc>
                <a:spcPct val="150000"/>
              </a:lnSpc>
            </a:pPr>
            <a:r>
              <a:rPr lang="en-US" sz="2200" dirty="0" smtClean="0"/>
              <a:t>Keyword-based </a:t>
            </a:r>
            <a:r>
              <a:rPr lang="en-US" sz="2200" dirty="0"/>
              <a:t>systems may miss qualified candidates.</a:t>
            </a:r>
          </a:p>
          <a:p>
            <a:pPr algn="just">
              <a:lnSpc>
                <a:spcPct val="150000"/>
              </a:lnSpc>
            </a:pPr>
            <a:r>
              <a:rPr lang="en-US" sz="2200" dirty="0" smtClean="0"/>
              <a:t>Large </a:t>
            </a:r>
            <a:r>
              <a:rPr lang="en-US" sz="2200" dirty="0"/>
              <a:t>volumes of applications are difficult to process efficiently.</a:t>
            </a:r>
          </a:p>
          <a:p>
            <a:pPr algn="just">
              <a:lnSpc>
                <a:spcPct val="150000"/>
              </a:lnSpc>
            </a:pPr>
            <a:r>
              <a:rPr lang="en-US" sz="2200" dirty="0" smtClean="0"/>
              <a:t>Human </a:t>
            </a:r>
            <a:r>
              <a:rPr lang="en-US" sz="2200" dirty="0"/>
              <a:t>bias can affect candidate evaluation.</a:t>
            </a:r>
          </a:p>
          <a:p>
            <a:pPr algn="just">
              <a:lnSpc>
                <a:spcPct val="150000"/>
              </a:lnSpc>
            </a:pPr>
            <a:r>
              <a:rPr lang="en-US" sz="2200" dirty="0" smtClean="0"/>
              <a:t>Lack </a:t>
            </a:r>
            <a:r>
              <a:rPr lang="en-US" sz="2200" dirty="0"/>
              <a:t>of </a:t>
            </a:r>
            <a:r>
              <a:rPr lang="en-US" sz="2200" dirty="0" err="1"/>
              <a:t>explainability</a:t>
            </a:r>
            <a:r>
              <a:rPr lang="en-US" sz="2200" dirty="0"/>
              <a:t> in candidate selection.</a:t>
            </a:r>
          </a:p>
          <a:p>
            <a:pPr algn="just">
              <a:lnSpc>
                <a:spcPct val="150000"/>
              </a:lnSpc>
            </a:pPr>
            <a:r>
              <a:rPr lang="en-US" sz="2200" dirty="0" smtClean="0"/>
              <a:t>Difficulty </a:t>
            </a:r>
            <a:r>
              <a:rPr lang="en-US" sz="2200" dirty="0"/>
              <a:t>in identifying candidates with transferable skills.</a:t>
            </a:r>
          </a:p>
          <a:p>
            <a:pPr algn="just">
              <a:lnSpc>
                <a:spcPct val="150000"/>
              </a:lnSpc>
            </a:pPr>
            <a:r>
              <a:rPr lang="en-US" sz="2200" dirty="0" smtClean="0"/>
              <a:t>Increased </a:t>
            </a:r>
            <a:r>
              <a:rPr lang="en-US" sz="2200" dirty="0"/>
              <a:t>recruitment costs and longer hiring cycles.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464"/>
            <a:ext cx="8229600" cy="1143000"/>
          </a:xfrm>
        </p:spPr>
        <p:txBody>
          <a:bodyPr>
            <a:normAutofit/>
          </a:bodyPr>
          <a:lstStyle/>
          <a:p>
            <a:r>
              <a:rPr sz="3600" dirty="0"/>
              <a:t>System Architecture</a:t>
            </a:r>
          </a:p>
        </p:txBody>
      </p:sp>
      <p:pic>
        <p:nvPicPr>
          <p:cNvPr id="2050" name="Picture 2" descr="C:\Users\AKHIL\Downloads\ChatGPT Image Jun 28, 2026, 04_07_51 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261" y="1177465"/>
            <a:ext cx="6377650" cy="53622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Technologies Used</a:t>
            </a:r>
          </a:p>
        </p:txBody>
      </p:sp>
      <p:sp>
        <p:nvSpPr>
          <p:cNvPr id="3" name="Content Placeholder 2"/>
          <p:cNvSpPr>
            <a:spLocks noGrp="1"/>
          </p:cNvSpPr>
          <p:nvPr>
            <p:ph idx="1"/>
          </p:nvPr>
        </p:nvSpPr>
        <p:spPr/>
        <p:txBody>
          <a:bodyPr>
            <a:normAutofit fontScale="92500"/>
          </a:bodyPr>
          <a:lstStyle/>
          <a:p>
            <a:pPr algn="just">
              <a:lnSpc>
                <a:spcPct val="150000"/>
              </a:lnSpc>
            </a:pPr>
            <a:r>
              <a:rPr lang="en-IN" sz="2200" dirty="0" smtClean="0"/>
              <a:t>Python </a:t>
            </a:r>
            <a:r>
              <a:rPr lang="en-IN" sz="2200" dirty="0"/>
              <a:t>– Core programming language for </a:t>
            </a:r>
            <a:r>
              <a:rPr lang="en-IN" sz="2200" dirty="0" smtClean="0"/>
              <a:t>development.</a:t>
            </a:r>
          </a:p>
          <a:p>
            <a:pPr algn="just">
              <a:lnSpc>
                <a:spcPct val="150000"/>
              </a:lnSpc>
            </a:pPr>
            <a:r>
              <a:rPr lang="en-IN" sz="2200" dirty="0" err="1" smtClean="0"/>
              <a:t>Streamlit</a:t>
            </a:r>
            <a:r>
              <a:rPr lang="en-IN" sz="2200" dirty="0" smtClean="0"/>
              <a:t> – Interactive web application and recruiter dashboard.</a:t>
            </a:r>
          </a:p>
          <a:p>
            <a:pPr algn="just">
              <a:lnSpc>
                <a:spcPct val="150000"/>
              </a:lnSpc>
            </a:pPr>
            <a:r>
              <a:rPr lang="en-IN" sz="2200" dirty="0" smtClean="0"/>
              <a:t>Sentence </a:t>
            </a:r>
            <a:r>
              <a:rPr lang="en-IN" sz="2200" dirty="0"/>
              <a:t>Transformers – Semantic similarity and candidate matching.</a:t>
            </a:r>
          </a:p>
          <a:p>
            <a:pPr algn="just">
              <a:lnSpc>
                <a:spcPct val="150000"/>
              </a:lnSpc>
            </a:pPr>
            <a:r>
              <a:rPr lang="en-IN" sz="2200" dirty="0" err="1" smtClean="0"/>
              <a:t>Scikit</a:t>
            </a:r>
            <a:r>
              <a:rPr lang="en-IN" sz="2200" dirty="0" smtClean="0"/>
              <a:t>-Learn </a:t>
            </a:r>
            <a:r>
              <a:rPr lang="en-IN" sz="2200" dirty="0"/>
              <a:t>– Similarity calculations and ranking logic.</a:t>
            </a:r>
          </a:p>
          <a:p>
            <a:pPr algn="just">
              <a:lnSpc>
                <a:spcPct val="150000"/>
              </a:lnSpc>
            </a:pPr>
            <a:r>
              <a:rPr lang="en-IN" sz="2200" dirty="0" err="1" smtClean="0"/>
              <a:t>PyMuPDF</a:t>
            </a:r>
            <a:r>
              <a:rPr lang="en-IN" sz="2200" dirty="0" smtClean="0"/>
              <a:t> </a:t>
            </a:r>
            <a:r>
              <a:rPr lang="en-IN" sz="2200" dirty="0"/>
              <a:t>– PDF resume parsing and text extraction.</a:t>
            </a:r>
          </a:p>
          <a:p>
            <a:pPr algn="just">
              <a:lnSpc>
                <a:spcPct val="150000"/>
              </a:lnSpc>
            </a:pPr>
            <a:r>
              <a:rPr lang="en-IN" sz="2200" dirty="0" err="1" smtClean="0"/>
              <a:t>Plotly</a:t>
            </a:r>
            <a:r>
              <a:rPr lang="en-IN" sz="2200" dirty="0" smtClean="0"/>
              <a:t> </a:t>
            </a:r>
            <a:r>
              <a:rPr lang="en-IN" sz="2200" dirty="0"/>
              <a:t>– Interactive data visualization and charts.</a:t>
            </a:r>
          </a:p>
          <a:p>
            <a:pPr algn="just">
              <a:lnSpc>
                <a:spcPct val="150000"/>
              </a:lnSpc>
            </a:pPr>
            <a:r>
              <a:rPr lang="en-IN" sz="2200" dirty="0" smtClean="0"/>
              <a:t>Pandas </a:t>
            </a:r>
            <a:r>
              <a:rPr lang="en-IN" sz="2200" dirty="0"/>
              <a:t>– Data processing and result management.</a:t>
            </a:r>
          </a:p>
          <a:p>
            <a:pPr algn="just">
              <a:lnSpc>
                <a:spcPct val="150000"/>
              </a:lnSpc>
            </a:pPr>
            <a:r>
              <a:rPr lang="en-IN" sz="2200" dirty="0" smtClean="0"/>
              <a:t>Regular </a:t>
            </a:r>
            <a:r>
              <a:rPr lang="en-IN" sz="2200" dirty="0"/>
              <a:t>Expressions (Regex) – Experience extraction from resumes.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Resume Parsing Module</a:t>
            </a:r>
          </a:p>
        </p:txBody>
      </p:sp>
      <p:sp>
        <p:nvSpPr>
          <p:cNvPr id="3" name="Content Placeholder 2"/>
          <p:cNvSpPr>
            <a:spLocks noGrp="1"/>
          </p:cNvSpPr>
          <p:nvPr>
            <p:ph idx="1"/>
          </p:nvPr>
        </p:nvSpPr>
        <p:spPr>
          <a:xfrm>
            <a:off x="457200" y="1298221"/>
            <a:ext cx="8229600" cy="5257800"/>
          </a:xfrm>
        </p:spPr>
        <p:txBody>
          <a:bodyPr>
            <a:normAutofit fontScale="92500" lnSpcReduction="10000"/>
          </a:bodyPr>
          <a:lstStyle/>
          <a:p>
            <a:pPr marL="0" indent="0" algn="just">
              <a:lnSpc>
                <a:spcPct val="150000"/>
              </a:lnSpc>
              <a:buNone/>
            </a:pPr>
            <a:r>
              <a:rPr lang="en-US" sz="2200" dirty="0" smtClean="0"/>
              <a:t>The </a:t>
            </a:r>
            <a:r>
              <a:rPr lang="en-US" sz="2200" dirty="0"/>
              <a:t>Resume Parsing Module automatically extracts textual information from uploaded PDF resumes using </a:t>
            </a:r>
            <a:r>
              <a:rPr lang="en-US" sz="2200" dirty="0" err="1"/>
              <a:t>PyMuPDF</a:t>
            </a:r>
            <a:r>
              <a:rPr lang="en-US" sz="2200" dirty="0"/>
              <a:t>. The extracted content is processed to identify important details such as technical skills, experience, projects, and qualifications. This structured information is then used by the ranking engine to evaluate candidate suitability for a given job </a:t>
            </a:r>
            <a:r>
              <a:rPr lang="en-US" sz="2200" dirty="0" smtClean="0"/>
              <a:t>role.</a:t>
            </a:r>
          </a:p>
          <a:p>
            <a:pPr marL="0" indent="0" algn="just">
              <a:lnSpc>
                <a:spcPct val="150000"/>
              </a:lnSpc>
              <a:buNone/>
            </a:pPr>
            <a:endParaRPr lang="en-US" sz="2200" dirty="0" smtClean="0"/>
          </a:p>
          <a:p>
            <a:pPr marL="0" indent="0" algn="just">
              <a:lnSpc>
                <a:spcPct val="150000"/>
              </a:lnSpc>
              <a:buNone/>
            </a:pPr>
            <a:r>
              <a:rPr lang="en-US" sz="2200" b="1" dirty="0" smtClean="0"/>
              <a:t>Key Functions:</a:t>
            </a:r>
          </a:p>
          <a:p>
            <a:pPr algn="just">
              <a:lnSpc>
                <a:spcPct val="150000"/>
              </a:lnSpc>
            </a:pPr>
            <a:r>
              <a:rPr lang="en-US" sz="2200" dirty="0" smtClean="0"/>
              <a:t>PDF </a:t>
            </a:r>
            <a:r>
              <a:rPr lang="en-US" sz="2200" dirty="0"/>
              <a:t>Text </a:t>
            </a:r>
            <a:r>
              <a:rPr lang="en-US" sz="2200" dirty="0" smtClean="0"/>
              <a:t>Extraction</a:t>
            </a:r>
          </a:p>
          <a:p>
            <a:pPr algn="just">
              <a:lnSpc>
                <a:spcPct val="150000"/>
              </a:lnSpc>
            </a:pPr>
            <a:r>
              <a:rPr lang="en-US" sz="2200" dirty="0" smtClean="0"/>
              <a:t>Skill Identification</a:t>
            </a:r>
          </a:p>
          <a:p>
            <a:pPr algn="just">
              <a:lnSpc>
                <a:spcPct val="150000"/>
              </a:lnSpc>
            </a:pPr>
            <a:r>
              <a:rPr lang="en-US" sz="2200" dirty="0" smtClean="0"/>
              <a:t>Experience </a:t>
            </a:r>
            <a:r>
              <a:rPr lang="en-US" sz="2200" dirty="0"/>
              <a:t>Detection</a:t>
            </a:r>
          </a:p>
          <a:p>
            <a:pPr algn="just">
              <a:lnSpc>
                <a:spcPct val="150000"/>
              </a:lnSpc>
            </a:pPr>
            <a:r>
              <a:rPr lang="en-US" sz="2200" dirty="0" smtClean="0"/>
              <a:t>Candidate </a:t>
            </a:r>
            <a:r>
              <a:rPr lang="en-US" sz="2200" dirty="0"/>
              <a:t>Profile Generation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Candidate Ranking Logic</a:t>
            </a:r>
          </a:p>
        </p:txBody>
      </p:sp>
      <p:sp>
        <p:nvSpPr>
          <p:cNvPr id="3" name="Content Placeholder 2"/>
          <p:cNvSpPr>
            <a:spLocks noGrp="1"/>
          </p:cNvSpPr>
          <p:nvPr>
            <p:ph idx="1"/>
          </p:nvPr>
        </p:nvSpPr>
        <p:spPr/>
        <p:txBody>
          <a:bodyPr>
            <a:noAutofit/>
          </a:bodyPr>
          <a:lstStyle/>
          <a:p>
            <a:pPr marL="0" indent="0" algn="just">
              <a:lnSpc>
                <a:spcPct val="150000"/>
              </a:lnSpc>
              <a:buNone/>
            </a:pPr>
            <a:r>
              <a:rPr lang="en-US" sz="2000" dirty="0"/>
              <a:t>The system evaluates each candidate using a hybrid scoring approach:</a:t>
            </a:r>
          </a:p>
          <a:p>
            <a:pPr marL="457200" indent="-457200" algn="just">
              <a:lnSpc>
                <a:spcPct val="150000"/>
              </a:lnSpc>
              <a:buFont typeface="+mj-lt"/>
              <a:buAutoNum type="arabicPeriod"/>
            </a:pPr>
            <a:r>
              <a:rPr lang="en-US" sz="2000" dirty="0"/>
              <a:t>Semantic Similarity Analysis</a:t>
            </a:r>
          </a:p>
          <a:p>
            <a:pPr lvl="1" algn="just">
              <a:lnSpc>
                <a:spcPct val="150000"/>
              </a:lnSpc>
              <a:buFont typeface="Arial" pitchFamily="34" charset="0"/>
              <a:buChar char="•"/>
            </a:pPr>
            <a:r>
              <a:rPr lang="en-US" sz="2000" dirty="0"/>
              <a:t>Compares the resume content with the job description using Sentence Transformers.</a:t>
            </a:r>
          </a:p>
          <a:p>
            <a:pPr marL="457200" indent="-457200" algn="just">
              <a:lnSpc>
                <a:spcPct val="150000"/>
              </a:lnSpc>
              <a:buFont typeface="+mj-lt"/>
              <a:buAutoNum type="arabicPeriod"/>
            </a:pPr>
            <a:r>
              <a:rPr lang="en-US" sz="2000" dirty="0"/>
              <a:t>Skill Matching</a:t>
            </a:r>
          </a:p>
          <a:p>
            <a:pPr lvl="1" algn="just">
              <a:lnSpc>
                <a:spcPct val="150000"/>
              </a:lnSpc>
              <a:buFont typeface="Arial" pitchFamily="34" charset="0"/>
              <a:buChar char="•"/>
            </a:pPr>
            <a:r>
              <a:rPr lang="en-US" sz="2000" dirty="0"/>
              <a:t>Identifies matching skills between job requirements and candidate profiles.</a:t>
            </a:r>
          </a:p>
          <a:p>
            <a:pPr marL="457200" indent="-457200" algn="just">
              <a:lnSpc>
                <a:spcPct val="150000"/>
              </a:lnSpc>
              <a:buFont typeface="+mj-lt"/>
              <a:buAutoNum type="arabicPeriod"/>
            </a:pPr>
            <a:r>
              <a:rPr lang="en-US" sz="2000" dirty="0"/>
              <a:t>Experience Analysis</a:t>
            </a:r>
          </a:p>
          <a:p>
            <a:pPr lvl="1" algn="just">
              <a:lnSpc>
                <a:spcPct val="150000"/>
              </a:lnSpc>
              <a:buFont typeface="Arial" pitchFamily="34" charset="0"/>
              <a:buChar char="•"/>
            </a:pPr>
            <a:r>
              <a:rPr lang="en-US" sz="2000" dirty="0"/>
              <a:t>Extracts and evaluates years of experience from resumes.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Candidate Ranking Logic</a:t>
            </a:r>
          </a:p>
        </p:txBody>
      </p:sp>
      <p:sp>
        <p:nvSpPr>
          <p:cNvPr id="3" name="Content Placeholder 2"/>
          <p:cNvSpPr>
            <a:spLocks noGrp="1"/>
          </p:cNvSpPr>
          <p:nvPr>
            <p:ph idx="1"/>
          </p:nvPr>
        </p:nvSpPr>
        <p:spPr/>
        <p:txBody>
          <a:bodyPr>
            <a:normAutofit/>
          </a:bodyPr>
          <a:lstStyle/>
          <a:p>
            <a:pPr marL="0" indent="0">
              <a:lnSpc>
                <a:spcPct val="150000"/>
              </a:lnSpc>
              <a:buNone/>
            </a:pPr>
            <a:r>
              <a:rPr lang="en-US" sz="2200" dirty="0"/>
              <a:t>Final Score =</a:t>
            </a:r>
            <a:br>
              <a:rPr lang="en-US" sz="2200" dirty="0"/>
            </a:br>
            <a:r>
              <a:rPr lang="en-US" sz="2200" dirty="0"/>
              <a:t>40% Semantic Similarity +</a:t>
            </a:r>
            <a:br>
              <a:rPr lang="en-US" sz="2200" dirty="0"/>
            </a:br>
            <a:r>
              <a:rPr lang="en-US" sz="2200" dirty="0"/>
              <a:t>40% Skill Match +</a:t>
            </a:r>
            <a:br>
              <a:rPr lang="en-US" sz="2200" dirty="0"/>
            </a:br>
            <a:r>
              <a:rPr lang="en-US" sz="2200" dirty="0"/>
              <a:t>20% Experience Score</a:t>
            </a:r>
          </a:p>
          <a:p>
            <a:pPr marL="0" indent="0">
              <a:lnSpc>
                <a:spcPct val="150000"/>
              </a:lnSpc>
              <a:buNone/>
            </a:pPr>
            <a:r>
              <a:rPr lang="en-US" sz="2200" dirty="0"/>
              <a:t>Based on the final score, candidates are categorized as:</a:t>
            </a:r>
          </a:p>
          <a:p>
            <a:pPr marL="0" indent="0">
              <a:lnSpc>
                <a:spcPct val="150000"/>
              </a:lnSpc>
              <a:buNone/>
            </a:pPr>
            <a:r>
              <a:rPr lang="en-US" sz="2200" dirty="0"/>
              <a:t>• Strong Hire</a:t>
            </a:r>
          </a:p>
          <a:p>
            <a:pPr marL="0" indent="0">
              <a:lnSpc>
                <a:spcPct val="150000"/>
              </a:lnSpc>
              <a:buNone/>
            </a:pPr>
            <a:r>
              <a:rPr lang="en-US" sz="2200" dirty="0"/>
              <a:t>• Consider</a:t>
            </a:r>
          </a:p>
          <a:p>
            <a:pPr marL="0" indent="0">
              <a:lnSpc>
                <a:spcPct val="150000"/>
              </a:lnSpc>
              <a:buNone/>
            </a:pPr>
            <a:r>
              <a:rPr lang="en-US" sz="2200" dirty="0"/>
              <a:t>• Not Recommended</a:t>
            </a:r>
          </a:p>
          <a:p>
            <a:pPr marL="0" indent="0">
              <a:buNone/>
            </a:pPr>
            <a:endParaRPr lang="en-IN" sz="2200" dirty="0"/>
          </a:p>
        </p:txBody>
      </p:sp>
    </p:spTree>
    <p:extLst>
      <p:ext uri="{BB962C8B-B14F-4D97-AF65-F5344CB8AC3E}">
        <p14:creationId xmlns:p14="http://schemas.microsoft.com/office/powerpoint/2010/main" val="357522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 Screenshots</a:t>
            </a:r>
          </a:p>
        </p:txBody>
      </p:sp>
      <p:pic>
        <p:nvPicPr>
          <p:cNvPr id="1027" name="Picture 3" descr="C:\Users\AKHIL\Desktop\Mounika\India Runs Redrob AI\AI-Candidate-Ranking\screenshots\candidate_ranking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099" y="1600198"/>
            <a:ext cx="3609832" cy="22348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AKHIL\Desktop\Mounika\India Runs Redrob AI\AI-Candidate-Ranking\screenshots\ranking_chart.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817660" y="1600199"/>
            <a:ext cx="3609832" cy="223482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AKHIL\Desktop\Mounika\India Runs Redrob AI\AI-Candidate-Ranking\screenshots\best_candidat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099" y="4234217"/>
            <a:ext cx="3609832" cy="22348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AKHIL\Desktop\Mounika\India Runs Redrob AI\AI-Candidate-Ranking\screenshots\candidate_analysis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7659" y="4234217"/>
            <a:ext cx="3609832" cy="22348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Results</a:t>
            </a:r>
          </a:p>
        </p:txBody>
      </p:sp>
      <p:sp>
        <p:nvSpPr>
          <p:cNvPr id="3" name="Content Placeholder 2"/>
          <p:cNvSpPr>
            <a:spLocks noGrp="1"/>
          </p:cNvSpPr>
          <p:nvPr>
            <p:ph idx="1"/>
          </p:nvPr>
        </p:nvSpPr>
        <p:spPr>
          <a:xfrm>
            <a:off x="457200" y="1241946"/>
            <a:ext cx="8229600" cy="5268036"/>
          </a:xfrm>
        </p:spPr>
        <p:txBody>
          <a:bodyPr>
            <a:normAutofit fontScale="55000" lnSpcReduction="20000"/>
          </a:bodyPr>
          <a:lstStyle/>
          <a:p>
            <a:pPr marL="0" indent="0" algn="just">
              <a:lnSpc>
                <a:spcPct val="170000"/>
              </a:lnSpc>
              <a:buNone/>
            </a:pPr>
            <a:r>
              <a:rPr lang="en-US" dirty="0" smtClean="0"/>
              <a:t>The </a:t>
            </a:r>
            <a:r>
              <a:rPr lang="en-US" dirty="0"/>
              <a:t>proposed AI-Powered Candidate Ranking System successfully ranks candidates according to their relevance to the job description.</a:t>
            </a:r>
          </a:p>
          <a:p>
            <a:pPr marL="0" indent="0" algn="just">
              <a:lnSpc>
                <a:spcPct val="170000"/>
              </a:lnSpc>
              <a:buNone/>
            </a:pPr>
            <a:r>
              <a:rPr lang="en-US" b="1" dirty="0"/>
              <a:t>Achievements:</a:t>
            </a:r>
          </a:p>
          <a:p>
            <a:pPr algn="just">
              <a:lnSpc>
                <a:spcPct val="170000"/>
              </a:lnSpc>
            </a:pPr>
            <a:r>
              <a:rPr lang="en-US" dirty="0" smtClean="0"/>
              <a:t>Automated </a:t>
            </a:r>
            <a:r>
              <a:rPr lang="en-US" dirty="0"/>
              <a:t>resume screening process.</a:t>
            </a:r>
          </a:p>
          <a:p>
            <a:pPr algn="just">
              <a:lnSpc>
                <a:spcPct val="170000"/>
              </a:lnSpc>
            </a:pPr>
            <a:r>
              <a:rPr lang="en-US" dirty="0" smtClean="0"/>
              <a:t>Improved </a:t>
            </a:r>
            <a:r>
              <a:rPr lang="en-US" dirty="0"/>
              <a:t>candidate matching accuracy.</a:t>
            </a:r>
          </a:p>
          <a:p>
            <a:pPr algn="just">
              <a:lnSpc>
                <a:spcPct val="170000"/>
              </a:lnSpc>
            </a:pPr>
            <a:r>
              <a:rPr lang="en-US" dirty="0" smtClean="0"/>
              <a:t>Generated </a:t>
            </a:r>
            <a:r>
              <a:rPr lang="en-US" dirty="0"/>
              <a:t>recruiter-friendly recommendations.</a:t>
            </a:r>
          </a:p>
          <a:p>
            <a:pPr algn="just">
              <a:lnSpc>
                <a:spcPct val="170000"/>
              </a:lnSpc>
            </a:pPr>
            <a:r>
              <a:rPr lang="en-US" dirty="0" smtClean="0"/>
              <a:t>Identified </a:t>
            </a:r>
            <a:r>
              <a:rPr lang="en-US" dirty="0"/>
              <a:t>matched and missing skills.</a:t>
            </a:r>
          </a:p>
          <a:p>
            <a:pPr algn="just">
              <a:lnSpc>
                <a:spcPct val="170000"/>
              </a:lnSpc>
            </a:pPr>
            <a:r>
              <a:rPr lang="en-US" dirty="0" smtClean="0"/>
              <a:t>Reduced </a:t>
            </a:r>
            <a:r>
              <a:rPr lang="en-US" dirty="0"/>
              <a:t>manual evaluation effort.</a:t>
            </a:r>
          </a:p>
          <a:p>
            <a:pPr algn="just">
              <a:lnSpc>
                <a:spcPct val="170000"/>
              </a:lnSpc>
            </a:pPr>
            <a:r>
              <a:rPr lang="en-US" dirty="0" smtClean="0"/>
              <a:t>Exported </a:t>
            </a:r>
            <a:r>
              <a:rPr lang="en-US" dirty="0"/>
              <a:t>ranked candidate reports in CSV format.</a:t>
            </a:r>
          </a:p>
          <a:p>
            <a:pPr marL="0" indent="0" algn="just">
              <a:lnSpc>
                <a:spcPct val="170000"/>
              </a:lnSpc>
              <a:buNone/>
            </a:pPr>
            <a:r>
              <a:rPr lang="en-US" dirty="0"/>
              <a:t>The system provides a transparent and explainable ranking mechanism that helps recruiters make informed hiring decisions.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Future Enhancements</a:t>
            </a:r>
          </a:p>
        </p:txBody>
      </p:sp>
      <p:sp>
        <p:nvSpPr>
          <p:cNvPr id="3" name="Content Placeholder 2"/>
          <p:cNvSpPr>
            <a:spLocks noGrp="1"/>
          </p:cNvSpPr>
          <p:nvPr>
            <p:ph idx="1"/>
          </p:nvPr>
        </p:nvSpPr>
        <p:spPr>
          <a:xfrm>
            <a:off x="457200" y="1270924"/>
            <a:ext cx="8229600" cy="4525963"/>
          </a:xfrm>
        </p:spPr>
        <p:txBody>
          <a:bodyPr>
            <a:noAutofit/>
          </a:bodyPr>
          <a:lstStyle/>
          <a:p>
            <a:pPr>
              <a:lnSpc>
                <a:spcPct val="150000"/>
              </a:lnSpc>
            </a:pPr>
            <a:r>
              <a:rPr lang="en-IN" sz="2200" dirty="0" smtClean="0"/>
              <a:t>Integration </a:t>
            </a:r>
            <a:r>
              <a:rPr lang="en-IN" sz="2200" dirty="0"/>
              <a:t>with Large Language Models (LLMs) for advanced candidate evaluation.</a:t>
            </a:r>
          </a:p>
          <a:p>
            <a:pPr>
              <a:lnSpc>
                <a:spcPct val="150000"/>
              </a:lnSpc>
            </a:pPr>
            <a:r>
              <a:rPr lang="en-IN" sz="2200" dirty="0" smtClean="0"/>
              <a:t>ATS </a:t>
            </a:r>
            <a:r>
              <a:rPr lang="en-IN" sz="2200" dirty="0"/>
              <a:t>(Applicant Tracking System) integration.</a:t>
            </a:r>
          </a:p>
          <a:p>
            <a:pPr>
              <a:lnSpc>
                <a:spcPct val="150000"/>
              </a:lnSpc>
            </a:pPr>
            <a:r>
              <a:rPr lang="en-IN" sz="2200" dirty="0" smtClean="0"/>
              <a:t>Interview </a:t>
            </a:r>
            <a:r>
              <a:rPr lang="en-IN" sz="2200" dirty="0"/>
              <a:t>performance prediction.</a:t>
            </a:r>
          </a:p>
          <a:p>
            <a:pPr>
              <a:lnSpc>
                <a:spcPct val="150000"/>
              </a:lnSpc>
            </a:pPr>
            <a:r>
              <a:rPr lang="en-IN" sz="2200" dirty="0" smtClean="0"/>
              <a:t>Real-time </a:t>
            </a:r>
            <a:r>
              <a:rPr lang="en-IN" sz="2200" dirty="0"/>
              <a:t>job recommendation engine.</a:t>
            </a:r>
          </a:p>
          <a:p>
            <a:pPr>
              <a:lnSpc>
                <a:spcPct val="150000"/>
              </a:lnSpc>
            </a:pPr>
            <a:r>
              <a:rPr lang="en-IN" sz="2200" dirty="0" err="1" smtClean="0"/>
              <a:t>Behavioral</a:t>
            </a:r>
            <a:r>
              <a:rPr lang="en-IN" sz="2200" dirty="0" smtClean="0"/>
              <a:t> </a:t>
            </a:r>
            <a:r>
              <a:rPr lang="en-IN" sz="2200" dirty="0"/>
              <a:t>and personality analysis.</a:t>
            </a:r>
          </a:p>
          <a:p>
            <a:pPr>
              <a:lnSpc>
                <a:spcPct val="150000"/>
              </a:lnSpc>
            </a:pPr>
            <a:r>
              <a:rPr lang="en-IN" sz="2200" dirty="0" smtClean="0"/>
              <a:t>Multi-language </a:t>
            </a:r>
            <a:r>
              <a:rPr lang="en-IN" sz="2200" dirty="0"/>
              <a:t>resume support.</a:t>
            </a:r>
          </a:p>
          <a:p>
            <a:pPr>
              <a:lnSpc>
                <a:spcPct val="150000"/>
              </a:lnSpc>
            </a:pPr>
            <a:r>
              <a:rPr lang="en-IN" sz="2200" dirty="0" smtClean="0"/>
              <a:t>Cloud </a:t>
            </a:r>
            <a:r>
              <a:rPr lang="en-IN" sz="2200" dirty="0"/>
              <a:t>deployment for enterprise-scale recruitment.</a:t>
            </a:r>
          </a:p>
          <a:p>
            <a:pPr>
              <a:lnSpc>
                <a:spcPct val="150000"/>
              </a:lnSpc>
            </a:pPr>
            <a:r>
              <a:rPr lang="en-IN" sz="2200" dirty="0" smtClean="0"/>
              <a:t>AI-generated </a:t>
            </a:r>
            <a:r>
              <a:rPr lang="en-IN" sz="2200" dirty="0"/>
              <a:t>recruiter feedback and hiring insights.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TotalTime>
  <Words>632</Words>
  <Application>Microsoft Office PowerPoint</Application>
  <PresentationFormat>On-screen Show (4:3)</PresentationFormat>
  <Paragraphs>69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AI-Powered Candidate Ranking System</vt:lpstr>
      <vt:lpstr>Problem Statement</vt:lpstr>
      <vt:lpstr>Challenges in Traditional Hiring</vt:lpstr>
      <vt:lpstr>System Architecture</vt:lpstr>
      <vt:lpstr>Technologies Used</vt:lpstr>
      <vt:lpstr>Resume Parsing Module</vt:lpstr>
      <vt:lpstr>Candidate Ranking Logic</vt:lpstr>
      <vt:lpstr>Candidate Ranking Logic</vt:lpstr>
      <vt:lpstr>Dashboard Screenshots</vt:lpstr>
      <vt:lpstr>Results</vt:lpstr>
      <vt:lpstr>Future Enhancements</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Candidate Ranking System</dc:title>
  <dc:creator>Mounika</dc:creator>
  <dc:description>generated using python-pptx</dc:description>
  <cp:lastModifiedBy>AKHIL</cp:lastModifiedBy>
  <cp:revision>6</cp:revision>
  <dcterms:created xsi:type="dcterms:W3CDTF">2013-01-27T09:14:16Z</dcterms:created>
  <dcterms:modified xsi:type="dcterms:W3CDTF">2026-06-28T10:44:35Z</dcterms:modified>
</cp:coreProperties>
</file>